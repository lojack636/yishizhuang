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12D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40" d="100"/>
          <a:sy n="140" d="100"/>
        </p:scale>
        <p:origin x="-804" y="-18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2015/10/6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2015/10/6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2015/10/6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2015/10/6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928676"/>
            <a:ext cx="3734639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肘形连接符 3"/>
          <p:cNvCxnSpPr/>
          <p:nvPr/>
        </p:nvCxnSpPr>
        <p:spPr>
          <a:xfrm>
            <a:off x="428596" y="500048"/>
            <a:ext cx="1500198" cy="5715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596" y="269216"/>
            <a:ext cx="8050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改为新</a:t>
            </a:r>
            <a:r>
              <a:rPr lang="en-US" altLang="zh-CN" sz="900" dirty="0" smtClean="0"/>
              <a:t>LOGO</a:t>
            </a:r>
            <a:endParaRPr lang="zh-CN" altLang="en-US" sz="900" dirty="0"/>
          </a:p>
        </p:txBody>
      </p:sp>
      <p:cxnSp>
        <p:nvCxnSpPr>
          <p:cNvPr id="10" name="肘形连接符 9"/>
          <p:cNvCxnSpPr/>
          <p:nvPr/>
        </p:nvCxnSpPr>
        <p:spPr>
          <a:xfrm>
            <a:off x="2143108" y="500048"/>
            <a:ext cx="1214446" cy="5715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71670" y="285734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改字体</a:t>
            </a:r>
            <a:endParaRPr lang="zh-CN" altLang="en-US" sz="900" dirty="0"/>
          </a:p>
        </p:txBody>
      </p:sp>
      <p:cxnSp>
        <p:nvCxnSpPr>
          <p:cNvPr id="15" name="肘形连接符 14"/>
          <p:cNvCxnSpPr/>
          <p:nvPr/>
        </p:nvCxnSpPr>
        <p:spPr>
          <a:xfrm flipV="1">
            <a:off x="500034" y="1357304"/>
            <a:ext cx="2500330" cy="28575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8596" y="1340786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配件商城</a:t>
            </a:r>
            <a:endParaRPr lang="zh-CN" altLang="en-US" sz="900" dirty="0"/>
          </a:p>
        </p:txBody>
      </p:sp>
      <p:cxnSp>
        <p:nvCxnSpPr>
          <p:cNvPr id="19" name="肘形连接符 18"/>
          <p:cNvCxnSpPr/>
          <p:nvPr/>
        </p:nvCxnSpPr>
        <p:spPr>
          <a:xfrm rot="10800000" flipV="1">
            <a:off x="2643174" y="500048"/>
            <a:ext cx="2928958" cy="235745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14810" y="214296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服务项目（服务平台）</a:t>
            </a:r>
            <a:endParaRPr lang="zh-CN" alt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5357818" y="571486"/>
            <a:ext cx="18004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前面为服务项目的图型如：灯具</a:t>
            </a:r>
            <a:endParaRPr lang="zh-CN" altLang="en-US" sz="9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214282" y="4000510"/>
            <a:ext cx="285752" cy="285752"/>
            <a:chOff x="8501090" y="2928940"/>
            <a:chExt cx="285752" cy="285752"/>
          </a:xfrm>
        </p:grpSpPr>
        <p:sp>
          <p:nvSpPr>
            <p:cNvPr id="24" name="椭圆 23"/>
            <p:cNvSpPr/>
            <p:nvPr/>
          </p:nvSpPr>
          <p:spPr>
            <a:xfrm>
              <a:off x="8501090" y="2928940"/>
              <a:ext cx="285752" cy="285752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572528" y="2965525"/>
              <a:ext cx="142876" cy="205824"/>
            </a:xfrm>
            <a:prstGeom prst="rect">
              <a:avLst/>
            </a:prstGeom>
          </p:spPr>
        </p:pic>
      </p:grpSp>
      <p:grpSp>
        <p:nvGrpSpPr>
          <p:cNvPr id="31" name="组合 30"/>
          <p:cNvGrpSpPr/>
          <p:nvPr/>
        </p:nvGrpSpPr>
        <p:grpSpPr>
          <a:xfrm>
            <a:off x="5429256" y="1571618"/>
            <a:ext cx="285752" cy="285752"/>
            <a:chOff x="714348" y="3357568"/>
            <a:chExt cx="285752" cy="285752"/>
          </a:xfrm>
        </p:grpSpPr>
        <p:sp>
          <p:nvSpPr>
            <p:cNvPr id="30" name="椭圆 29"/>
            <p:cNvSpPr/>
            <p:nvPr/>
          </p:nvSpPr>
          <p:spPr>
            <a:xfrm>
              <a:off x="714348" y="3357568"/>
              <a:ext cx="285752" cy="285752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60098" y="3429006"/>
              <a:ext cx="168564" cy="1428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5" name="TextBox 34"/>
          <p:cNvSpPr txBox="1"/>
          <p:nvPr/>
        </p:nvSpPr>
        <p:spPr>
          <a:xfrm>
            <a:off x="5643570" y="1000114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次装修：</a:t>
            </a:r>
            <a:endParaRPr lang="zh-CN" altLang="en-US" sz="900" dirty="0"/>
          </a:p>
        </p:txBody>
      </p:sp>
      <p:sp>
        <p:nvSpPr>
          <p:cNvPr id="36" name="矩形 35"/>
          <p:cNvSpPr/>
          <p:nvPr/>
        </p:nvSpPr>
        <p:spPr>
          <a:xfrm>
            <a:off x="6143636" y="857238"/>
            <a:ext cx="242887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900" dirty="0" smtClean="0"/>
              <a:t>已有装修的维修、保养及翻新。如木地板、墙纸等更换，墙体乳胶漆翻新，墙、地砖脱落，水管更换与维修，门窗维修等</a:t>
            </a:r>
            <a:endParaRPr lang="zh-CN" alt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5643570" y="1571618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安装：</a:t>
            </a:r>
            <a:endParaRPr lang="zh-CN" altLang="en-US" sz="900" dirty="0"/>
          </a:p>
        </p:txBody>
      </p:sp>
      <p:grpSp>
        <p:nvGrpSpPr>
          <p:cNvPr id="40" name="组合 39"/>
          <p:cNvGrpSpPr/>
          <p:nvPr/>
        </p:nvGrpSpPr>
        <p:grpSpPr>
          <a:xfrm>
            <a:off x="5429256" y="1000114"/>
            <a:ext cx="285752" cy="285752"/>
            <a:chOff x="7358082" y="2786064"/>
            <a:chExt cx="285752" cy="285752"/>
          </a:xfrm>
        </p:grpSpPr>
        <p:sp>
          <p:nvSpPr>
            <p:cNvPr id="39" name="椭圆 38"/>
            <p:cNvSpPr/>
            <p:nvPr/>
          </p:nvSpPr>
          <p:spPr>
            <a:xfrm>
              <a:off x="7358082" y="2786064"/>
              <a:ext cx="285752" cy="285752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429520" y="2857502"/>
              <a:ext cx="142875" cy="1688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5" name="组合 44"/>
          <p:cNvGrpSpPr/>
          <p:nvPr/>
        </p:nvGrpSpPr>
        <p:grpSpPr>
          <a:xfrm>
            <a:off x="5429256" y="2928940"/>
            <a:ext cx="285752" cy="285752"/>
            <a:chOff x="6286512" y="2571750"/>
            <a:chExt cx="285752" cy="285752"/>
          </a:xfrm>
        </p:grpSpPr>
        <p:sp>
          <p:nvSpPr>
            <p:cNvPr id="42" name="椭圆 41"/>
            <p:cNvSpPr/>
            <p:nvPr/>
          </p:nvSpPr>
          <p:spPr>
            <a:xfrm>
              <a:off x="6286512" y="2571750"/>
              <a:ext cx="285752" cy="285752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31" name="Picture 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357950" y="2643188"/>
              <a:ext cx="183697" cy="1428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9" name="组合 48"/>
          <p:cNvGrpSpPr/>
          <p:nvPr/>
        </p:nvGrpSpPr>
        <p:grpSpPr>
          <a:xfrm>
            <a:off x="5429256" y="2000246"/>
            <a:ext cx="285752" cy="285752"/>
            <a:chOff x="7572396" y="3071816"/>
            <a:chExt cx="285752" cy="285752"/>
          </a:xfrm>
        </p:grpSpPr>
        <p:sp>
          <p:nvSpPr>
            <p:cNvPr id="43" name="椭圆 42"/>
            <p:cNvSpPr/>
            <p:nvPr/>
          </p:nvSpPr>
          <p:spPr>
            <a:xfrm>
              <a:off x="7572396" y="3071816"/>
              <a:ext cx="285752" cy="285752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33" name="Picture 9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613953" y="3124212"/>
              <a:ext cx="172757" cy="1619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50" name="矩形 49"/>
          <p:cNvSpPr/>
          <p:nvPr/>
        </p:nvSpPr>
        <p:spPr>
          <a:xfrm>
            <a:off x="6072198" y="1571618"/>
            <a:ext cx="226215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 smtClean="0"/>
              <a:t>新购灯具、卫浴、家具、家电等产品安装</a:t>
            </a:r>
            <a:endParaRPr lang="zh-CN" altLang="en-US" sz="900" dirty="0"/>
          </a:p>
        </p:txBody>
      </p:sp>
      <p:sp>
        <p:nvSpPr>
          <p:cNvPr id="51" name="TextBox 50"/>
          <p:cNvSpPr txBox="1"/>
          <p:nvPr/>
        </p:nvSpPr>
        <p:spPr>
          <a:xfrm>
            <a:off x="5643570" y="2055166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维修：</a:t>
            </a:r>
            <a:endParaRPr lang="zh-CN" altLang="en-US" sz="900" dirty="0"/>
          </a:p>
        </p:txBody>
      </p:sp>
      <p:sp>
        <p:nvSpPr>
          <p:cNvPr id="52" name="矩形 51"/>
          <p:cNvSpPr/>
          <p:nvPr/>
        </p:nvSpPr>
        <p:spPr>
          <a:xfrm>
            <a:off x="6072198" y="2055166"/>
            <a:ext cx="295465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 smtClean="0"/>
              <a:t>灯具、卫浴、水暖五金、门窗、家电、家具等产品维修</a:t>
            </a:r>
            <a:endParaRPr lang="zh-CN" altLang="en-US" sz="900" dirty="0"/>
          </a:p>
        </p:txBody>
      </p:sp>
      <p:sp>
        <p:nvSpPr>
          <p:cNvPr id="53" name="矩形 52"/>
          <p:cNvSpPr/>
          <p:nvPr/>
        </p:nvSpPr>
        <p:spPr>
          <a:xfrm>
            <a:off x="5667641" y="2928940"/>
            <a:ext cx="76174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 smtClean="0"/>
              <a:t>代办提货：</a:t>
            </a:r>
            <a:endParaRPr lang="zh-CN" altLang="en-US" sz="900" dirty="0"/>
          </a:p>
        </p:txBody>
      </p:sp>
      <p:sp>
        <p:nvSpPr>
          <p:cNvPr id="54" name="矩形 53"/>
          <p:cNvSpPr/>
          <p:nvPr/>
        </p:nvSpPr>
        <p:spPr>
          <a:xfrm>
            <a:off x="6286512" y="2928940"/>
            <a:ext cx="226215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 smtClean="0"/>
              <a:t>网购产品可预约到物流点提货并上门安装</a:t>
            </a:r>
            <a:endParaRPr lang="zh-CN" altLang="en-US" sz="900" dirty="0"/>
          </a:p>
        </p:txBody>
      </p:sp>
      <p:grpSp>
        <p:nvGrpSpPr>
          <p:cNvPr id="57" name="组合 56"/>
          <p:cNvGrpSpPr/>
          <p:nvPr/>
        </p:nvGrpSpPr>
        <p:grpSpPr>
          <a:xfrm>
            <a:off x="5429256" y="2500312"/>
            <a:ext cx="285752" cy="285752"/>
            <a:chOff x="6429388" y="3286130"/>
            <a:chExt cx="285752" cy="285752"/>
          </a:xfrm>
        </p:grpSpPr>
        <p:sp>
          <p:nvSpPr>
            <p:cNvPr id="48" name="椭圆 47"/>
            <p:cNvSpPr/>
            <p:nvPr/>
          </p:nvSpPr>
          <p:spPr>
            <a:xfrm>
              <a:off x="6429388" y="3286130"/>
              <a:ext cx="285752" cy="285752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34" name="Picture 10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493439" y="3357569"/>
              <a:ext cx="150262" cy="1428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58" name="矩形 57"/>
          <p:cNvSpPr/>
          <p:nvPr/>
        </p:nvSpPr>
        <p:spPr>
          <a:xfrm>
            <a:off x="5643570" y="2555232"/>
            <a:ext cx="5309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 smtClean="0"/>
              <a:t>保养：</a:t>
            </a:r>
            <a:endParaRPr lang="zh-CN" altLang="en-US" sz="900" dirty="0"/>
          </a:p>
        </p:txBody>
      </p:sp>
      <p:sp>
        <p:nvSpPr>
          <p:cNvPr id="59" name="矩形 58"/>
          <p:cNvSpPr/>
          <p:nvPr/>
        </p:nvSpPr>
        <p:spPr>
          <a:xfrm>
            <a:off x="6072198" y="2571750"/>
            <a:ext cx="220605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 smtClean="0"/>
              <a:t>灯具、空调等产品清洗，灯具改装</a:t>
            </a:r>
            <a:r>
              <a:rPr lang="en-US" sz="900" dirty="0" smtClean="0"/>
              <a:t>LED</a:t>
            </a:r>
            <a:r>
              <a:rPr lang="zh-CN" altLang="en-US" sz="900" dirty="0" smtClean="0"/>
              <a:t>等</a:t>
            </a:r>
            <a:endParaRPr lang="zh-CN" altLang="en-US" sz="900" dirty="0"/>
          </a:p>
        </p:txBody>
      </p:sp>
      <p:grpSp>
        <p:nvGrpSpPr>
          <p:cNvPr id="64" name="组合 63"/>
          <p:cNvGrpSpPr/>
          <p:nvPr/>
        </p:nvGrpSpPr>
        <p:grpSpPr>
          <a:xfrm>
            <a:off x="500034" y="4286262"/>
            <a:ext cx="285752" cy="285752"/>
            <a:chOff x="7929586" y="3643320"/>
            <a:chExt cx="285752" cy="285752"/>
          </a:xfrm>
        </p:grpSpPr>
        <p:sp>
          <p:nvSpPr>
            <p:cNvPr id="56" name="椭圆 55"/>
            <p:cNvSpPr/>
            <p:nvPr/>
          </p:nvSpPr>
          <p:spPr>
            <a:xfrm>
              <a:off x="7929586" y="3643320"/>
              <a:ext cx="285752" cy="285752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35" name="Picture 11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7987979" y="3710658"/>
              <a:ext cx="155921" cy="146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63" name="组合 62"/>
          <p:cNvGrpSpPr/>
          <p:nvPr/>
        </p:nvGrpSpPr>
        <p:grpSpPr>
          <a:xfrm>
            <a:off x="5429256" y="3357568"/>
            <a:ext cx="285752" cy="285752"/>
            <a:chOff x="6215074" y="3643320"/>
            <a:chExt cx="285752" cy="285752"/>
          </a:xfrm>
        </p:grpSpPr>
        <p:sp>
          <p:nvSpPr>
            <p:cNvPr id="62" name="椭圆 61"/>
            <p:cNvSpPr/>
            <p:nvPr/>
          </p:nvSpPr>
          <p:spPr>
            <a:xfrm>
              <a:off x="6215074" y="3643320"/>
              <a:ext cx="285752" cy="285752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36" name="Picture 12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6258521" y="3714758"/>
              <a:ext cx="179905" cy="1428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5" name="矩形 64"/>
          <p:cNvSpPr/>
          <p:nvPr/>
        </p:nvSpPr>
        <p:spPr>
          <a:xfrm>
            <a:off x="5667641" y="3412488"/>
            <a:ext cx="76174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 smtClean="0"/>
              <a:t>配件商城：</a:t>
            </a:r>
            <a:endParaRPr lang="zh-CN" altLang="en-US" sz="900" dirty="0"/>
          </a:p>
        </p:txBody>
      </p:sp>
      <p:sp>
        <p:nvSpPr>
          <p:cNvPr id="66" name="矩形 65"/>
          <p:cNvSpPr/>
          <p:nvPr/>
        </p:nvSpPr>
        <p:spPr>
          <a:xfrm>
            <a:off x="6215074" y="3429006"/>
            <a:ext cx="292894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900" dirty="0" smtClean="0"/>
              <a:t>各类品牌灯具、卫浴、水暖五金、家电零配件代购安装</a:t>
            </a:r>
            <a:endParaRPr lang="zh-CN" altLang="en-US" sz="900" dirty="0"/>
          </a:p>
        </p:txBody>
      </p:sp>
      <p:sp>
        <p:nvSpPr>
          <p:cNvPr id="67" name="矩形 66"/>
          <p:cNvSpPr/>
          <p:nvPr/>
        </p:nvSpPr>
        <p:spPr>
          <a:xfrm>
            <a:off x="1785918" y="2928940"/>
            <a:ext cx="3214710" cy="500066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肘形连接符 69"/>
          <p:cNvCxnSpPr/>
          <p:nvPr/>
        </p:nvCxnSpPr>
        <p:spPr>
          <a:xfrm>
            <a:off x="4214810" y="3429006"/>
            <a:ext cx="1571636" cy="857256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5857884" y="4143386"/>
            <a:ext cx="2286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900" dirty="0" smtClean="0">
                <a:solidFill>
                  <a:srgbClr val="FF0000"/>
                </a:solidFill>
              </a:rPr>
              <a:t>这几个图型可以作为服务品质保证的辅助图案保留，但要做调整</a:t>
            </a:r>
            <a:endParaRPr lang="zh-CN" alt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857238"/>
            <a:ext cx="3762490" cy="3286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肘形连接符 3"/>
          <p:cNvCxnSpPr/>
          <p:nvPr/>
        </p:nvCxnSpPr>
        <p:spPr>
          <a:xfrm rot="10800000">
            <a:off x="5000628" y="3000378"/>
            <a:ext cx="3000396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86512" y="3571882"/>
            <a:ext cx="20313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改为：佛山易事装建材安装有限公司</a:t>
            </a:r>
            <a:endParaRPr lang="zh-CN" altLang="en-US" sz="900" dirty="0"/>
          </a:p>
        </p:txBody>
      </p:sp>
      <p:cxnSp>
        <p:nvCxnSpPr>
          <p:cNvPr id="6" name="肘形连接符 5"/>
          <p:cNvCxnSpPr/>
          <p:nvPr/>
        </p:nvCxnSpPr>
        <p:spPr>
          <a:xfrm rot="10800000">
            <a:off x="5000628" y="3929072"/>
            <a:ext cx="3000396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肘形连接符 7"/>
          <p:cNvCxnSpPr/>
          <p:nvPr/>
        </p:nvCxnSpPr>
        <p:spPr>
          <a:xfrm flipV="1">
            <a:off x="857224" y="3929072"/>
            <a:ext cx="2714644" cy="7143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7224" y="3714758"/>
            <a:ext cx="8050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改为新</a:t>
            </a:r>
            <a:r>
              <a:rPr lang="en-US" altLang="zh-CN" sz="900" dirty="0" smtClean="0"/>
              <a:t>LOGO</a:t>
            </a:r>
            <a:endParaRPr lang="zh-CN" altLang="en-US" sz="900" dirty="0"/>
          </a:p>
        </p:txBody>
      </p:sp>
      <p:sp>
        <p:nvSpPr>
          <p:cNvPr id="10" name="TextBox 9"/>
          <p:cNvSpPr txBox="1"/>
          <p:nvPr/>
        </p:nvSpPr>
        <p:spPr>
          <a:xfrm>
            <a:off x="6286512" y="2786064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改字体</a:t>
            </a:r>
            <a:endParaRPr lang="zh-CN" altLang="en-US" sz="9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43613" y="642924"/>
            <a:ext cx="2599717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7072330" y="785800"/>
            <a:ext cx="14542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此位置暂时没有修改意见</a:t>
            </a:r>
            <a:endParaRPr lang="zh-CN" altLang="en-US" sz="900" dirty="0"/>
          </a:p>
        </p:txBody>
      </p:sp>
      <p:cxnSp>
        <p:nvCxnSpPr>
          <p:cNvPr id="14" name="肘形连接符 13"/>
          <p:cNvCxnSpPr/>
          <p:nvPr/>
        </p:nvCxnSpPr>
        <p:spPr>
          <a:xfrm>
            <a:off x="357158" y="571486"/>
            <a:ext cx="2214578" cy="57150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曲线连接符 17"/>
          <p:cNvCxnSpPr/>
          <p:nvPr/>
        </p:nvCxnSpPr>
        <p:spPr>
          <a:xfrm rot="16200000" flipH="1">
            <a:off x="1678761" y="2178841"/>
            <a:ext cx="2286016" cy="214314"/>
          </a:xfrm>
          <a:prstGeom prst="curvedConnector3">
            <a:avLst>
              <a:gd name="adj1" fmla="val 46259"/>
            </a:avLst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5720" y="285734"/>
            <a:ext cx="25362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合作商家只留下一栏横条，显示商家</a:t>
            </a:r>
            <a:r>
              <a:rPr lang="en-US" altLang="zh-CN" sz="900" dirty="0" smtClean="0"/>
              <a:t>LOGO</a:t>
            </a:r>
            <a:r>
              <a:rPr lang="zh-CN" altLang="en-US" sz="900" dirty="0" smtClean="0"/>
              <a:t>即可</a:t>
            </a:r>
            <a:endParaRPr lang="zh-CN" altLang="en-US" sz="900" dirty="0"/>
          </a:p>
        </p:txBody>
      </p:sp>
      <p:cxnSp>
        <p:nvCxnSpPr>
          <p:cNvPr id="23" name="肘形连接符 22"/>
          <p:cNvCxnSpPr/>
          <p:nvPr/>
        </p:nvCxnSpPr>
        <p:spPr>
          <a:xfrm flipV="1">
            <a:off x="571472" y="2143122"/>
            <a:ext cx="2143140" cy="1571636"/>
          </a:xfrm>
          <a:prstGeom prst="bentConnector3">
            <a:avLst>
              <a:gd name="adj1" fmla="val 7762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5720" y="1428742"/>
            <a:ext cx="185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这个位置改为维修的实时状态（可以定时更新一次）</a:t>
            </a:r>
            <a:endParaRPr lang="zh-CN" altLang="en-US" sz="9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808" y="1785932"/>
            <a:ext cx="2144738" cy="1776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09" y="357172"/>
            <a:ext cx="2340043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肘形连接符 3"/>
          <p:cNvCxnSpPr/>
          <p:nvPr/>
        </p:nvCxnSpPr>
        <p:spPr>
          <a:xfrm rot="5400000">
            <a:off x="928662" y="1928808"/>
            <a:ext cx="1214446" cy="35719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" name="肘形连接符 5"/>
          <p:cNvCxnSpPr/>
          <p:nvPr/>
        </p:nvCxnSpPr>
        <p:spPr>
          <a:xfrm flipV="1">
            <a:off x="2500298" y="785800"/>
            <a:ext cx="1143008" cy="214314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1071538" y="2786064"/>
            <a:ext cx="571504" cy="571504"/>
          </a:xfrm>
          <a:prstGeom prst="roundRect">
            <a:avLst/>
          </a:prstGeom>
          <a:ln>
            <a:solidFill>
              <a:srgbClr val="E812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注册成为会员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786182" y="571486"/>
            <a:ext cx="1214446" cy="28575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我的订单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5787" y="3500444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/>
              <a:t>首次注册，所填写资料只要</a:t>
            </a:r>
            <a:r>
              <a:rPr lang="en-US" altLang="zh-CN" sz="900" dirty="0" smtClean="0"/>
              <a:t>5</a:t>
            </a:r>
            <a:r>
              <a:rPr lang="zh-CN" altLang="en-US" sz="900" dirty="0" smtClean="0"/>
              <a:t>项，会员详细资料可以</a:t>
            </a:r>
            <a:r>
              <a:rPr lang="zh-CN" altLang="en-US" sz="900" b="1" dirty="0" smtClean="0"/>
              <a:t>即时完善</a:t>
            </a:r>
            <a:r>
              <a:rPr lang="zh-CN" altLang="en-US" sz="900" dirty="0" smtClean="0"/>
              <a:t>或在</a:t>
            </a:r>
            <a:r>
              <a:rPr lang="zh-CN" altLang="en-US" sz="900" b="1" dirty="0" smtClean="0"/>
              <a:t>日后再完善</a:t>
            </a:r>
            <a:endParaRPr lang="zh-CN" altLang="en-US" sz="9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2571750"/>
            <a:ext cx="1290637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肘形连接符 14"/>
          <p:cNvCxnSpPr>
            <a:stCxn id="4098" idx="3"/>
          </p:cNvCxnSpPr>
          <p:nvPr/>
        </p:nvCxnSpPr>
        <p:spPr>
          <a:xfrm flipV="1">
            <a:off x="4005249" y="2428874"/>
            <a:ext cx="852503" cy="48895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肘形连接符 15"/>
          <p:cNvCxnSpPr/>
          <p:nvPr/>
        </p:nvCxnSpPr>
        <p:spPr>
          <a:xfrm>
            <a:off x="4000496" y="2928940"/>
            <a:ext cx="857256" cy="50006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" name="圆角矩形 23"/>
          <p:cNvSpPr/>
          <p:nvPr/>
        </p:nvSpPr>
        <p:spPr>
          <a:xfrm>
            <a:off x="5143504" y="2285998"/>
            <a:ext cx="1214446" cy="285752"/>
          </a:xfrm>
          <a:prstGeom prst="roundRect">
            <a:avLst/>
          </a:prstGeom>
          <a:ln>
            <a:solidFill>
              <a:srgbClr val="E812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会员注册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143504" y="3286130"/>
            <a:ext cx="1214446" cy="285752"/>
          </a:xfrm>
          <a:prstGeom prst="roundRect">
            <a:avLst/>
          </a:prstGeom>
          <a:ln>
            <a:solidFill>
              <a:srgbClr val="E812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EASYJOB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34"/>
            <a:ext cx="571504" cy="576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圆角矩形 5"/>
          <p:cNvSpPr/>
          <p:nvPr/>
        </p:nvSpPr>
        <p:spPr>
          <a:xfrm>
            <a:off x="928662" y="285734"/>
            <a:ext cx="571504" cy="571504"/>
          </a:xfrm>
          <a:prstGeom prst="roundRect">
            <a:avLst/>
          </a:prstGeom>
          <a:ln>
            <a:solidFill>
              <a:srgbClr val="E812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注册成为会员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14546" y="763775"/>
            <a:ext cx="1928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手机号（为唯一会员登记方式）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14546" y="1017620"/>
            <a:ext cx="17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昵称（中英文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16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个字符以内， </a:t>
            </a:r>
            <a:endParaRPr lang="en-US" altLang="zh-CN" sz="1000" dirty="0" smtClean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  <a:p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      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昵称为唯一性）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14546" y="2006739"/>
            <a:ext cx="16430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地区（中英文）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14546" y="1649549"/>
            <a:ext cx="17145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邮箱（捆绑后方便找回密码）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4214809" y="1192403"/>
            <a:ext cx="285753" cy="64945"/>
          </a:xfrm>
          <a:prstGeom prst="rightArrow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143372" y="757282"/>
            <a:ext cx="500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密码设定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14876" y="763775"/>
            <a:ext cx="1785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发送验证码到手机号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71604" y="2363929"/>
            <a:ext cx="571504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省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5" name="等腰三角形 14"/>
          <p:cNvSpPr/>
          <p:nvPr/>
        </p:nvSpPr>
        <p:spPr>
          <a:xfrm flipV="1">
            <a:off x="2000232" y="2435367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214546" y="2363929"/>
            <a:ext cx="571504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市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等腰三角形 16"/>
          <p:cNvSpPr/>
          <p:nvPr/>
        </p:nvSpPr>
        <p:spPr>
          <a:xfrm flipV="1">
            <a:off x="2643174" y="2435367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857488" y="2363929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区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县）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9" name="等腰三角形 18"/>
          <p:cNvSpPr/>
          <p:nvPr/>
        </p:nvSpPr>
        <p:spPr>
          <a:xfrm flipV="1">
            <a:off x="3428992" y="2435367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714876" y="1089058"/>
            <a:ext cx="1785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英文或符号（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12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个字符以内）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14876" y="1374810"/>
            <a:ext cx="1785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密码不可以手机号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14876" y="1660562"/>
            <a:ext cx="1785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设填写及确认两项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3" name="右箭头 22"/>
          <p:cNvSpPr/>
          <p:nvPr/>
        </p:nvSpPr>
        <p:spPr>
          <a:xfrm>
            <a:off x="6500825" y="1192403"/>
            <a:ext cx="285753" cy="71438"/>
          </a:xfrm>
          <a:prstGeom prst="rightArrow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6929454" y="906651"/>
            <a:ext cx="571504" cy="5715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成功成为会员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" name="下箭头 24"/>
          <p:cNvSpPr/>
          <p:nvPr/>
        </p:nvSpPr>
        <p:spPr>
          <a:xfrm>
            <a:off x="1714480" y="2643188"/>
            <a:ext cx="71438" cy="214314"/>
          </a:xfrm>
          <a:prstGeom prst="downArrow">
            <a:avLst/>
          </a:prstGeom>
          <a:ln w="12700"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500166" y="2857502"/>
            <a:ext cx="2857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根据所属区域生成会员号，如：广州从化街口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57356" y="2643188"/>
            <a:ext cx="13573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生成会员号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14546" y="1406717"/>
            <a:ext cx="1785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性别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571604" y="3214692"/>
            <a:ext cx="571504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广州市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214546" y="3214692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从化区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1" name="等腰三角形 30"/>
          <p:cNvSpPr/>
          <p:nvPr/>
        </p:nvSpPr>
        <p:spPr>
          <a:xfrm flipV="1">
            <a:off x="2786050" y="3329050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571604" y="3397099"/>
            <a:ext cx="571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020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00166" y="3600400"/>
            <a:ext cx="642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默认三位数字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85984" y="3397099"/>
            <a:ext cx="571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CH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43108" y="3600400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默认两位拼音首字母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000364" y="3600400"/>
            <a:ext cx="785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六位序号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43240" y="3397099"/>
            <a:ext cx="571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000001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85984" y="389079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推荐号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143240" y="285734"/>
            <a:ext cx="17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如有推荐人必须填入，错过填写不再计推荐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214546" y="642924"/>
            <a:ext cx="5357850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直角上箭头 40"/>
          <p:cNvSpPr/>
          <p:nvPr/>
        </p:nvSpPr>
        <p:spPr>
          <a:xfrm rot="16200000" flipV="1">
            <a:off x="7054471" y="375031"/>
            <a:ext cx="250033" cy="214314"/>
          </a:xfrm>
          <a:prstGeom prst="bentUpArrow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7358082" y="325265"/>
            <a:ext cx="1285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发推荐人优惠信息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3" name="直角上箭头 42"/>
          <p:cNvSpPr/>
          <p:nvPr/>
        </p:nvSpPr>
        <p:spPr>
          <a:xfrm rot="16200000" flipH="1" flipV="1">
            <a:off x="7072331" y="1643056"/>
            <a:ext cx="214314" cy="214314"/>
          </a:xfrm>
          <a:prstGeom prst="bentUpArrow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7358082" y="1643056"/>
            <a:ext cx="1285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发优惠信息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1" name="下箭头 50"/>
          <p:cNvSpPr/>
          <p:nvPr/>
        </p:nvSpPr>
        <p:spPr>
          <a:xfrm>
            <a:off x="7072330" y="1928808"/>
            <a:ext cx="71438" cy="214314"/>
          </a:xfrm>
          <a:prstGeom prst="downArrow">
            <a:avLst/>
          </a:prstGeom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6929454" y="2254091"/>
            <a:ext cx="12144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推送会员号（即为会员推荐号）固定一页，此页会员可推荐给其它人，会员号为唯一性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000232" y="4214824"/>
            <a:ext cx="928694" cy="214314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注册完成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500430" y="4214824"/>
            <a:ext cx="928694" cy="214314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完善资料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7" name="右箭头 56"/>
          <p:cNvSpPr/>
          <p:nvPr/>
        </p:nvSpPr>
        <p:spPr>
          <a:xfrm>
            <a:off x="3071802" y="4286262"/>
            <a:ext cx="285752" cy="71438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4143372" y="3357568"/>
            <a:ext cx="785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编号另附对照表</a:t>
            </a:r>
            <a:endParaRPr lang="zh-CN" altLang="en-US" sz="10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85984" y="500048"/>
            <a:ext cx="571504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省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等腰三角形 2"/>
          <p:cNvSpPr/>
          <p:nvPr/>
        </p:nvSpPr>
        <p:spPr>
          <a:xfrm flipV="1">
            <a:off x="2714612" y="571486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928926" y="500048"/>
            <a:ext cx="571504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市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等腰三角形 4"/>
          <p:cNvSpPr/>
          <p:nvPr/>
        </p:nvSpPr>
        <p:spPr>
          <a:xfrm flipV="1">
            <a:off x="3357554" y="571486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71868" y="500048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区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县）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flipV="1">
            <a:off x="4143372" y="571486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357686" y="500048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镇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街）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 flipV="1">
            <a:off x="4929190" y="571486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285984" y="785800"/>
            <a:ext cx="2786082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详细地址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29256" y="571486"/>
            <a:ext cx="17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如首次下单或未在“我的资料”中完善的需填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57488" y="1071552"/>
            <a:ext cx="9286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设为常用地址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" name="椭圆 12"/>
          <p:cNvSpPr/>
          <p:nvPr/>
        </p:nvSpPr>
        <p:spPr>
          <a:xfrm flipV="1">
            <a:off x="3857620" y="1144120"/>
            <a:ext cx="71438" cy="7143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34"/>
            <a:ext cx="571504" cy="576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圆角矩形 14"/>
          <p:cNvSpPr/>
          <p:nvPr/>
        </p:nvSpPr>
        <p:spPr>
          <a:xfrm>
            <a:off x="928662" y="285734"/>
            <a:ext cx="571504" cy="571504"/>
          </a:xfrm>
          <a:prstGeom prst="roundRect">
            <a:avLst/>
          </a:prstGeom>
          <a:ln>
            <a:solidFill>
              <a:srgbClr val="E812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完善资料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28662" y="2428874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绑定付款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22" name="图片 21" descr="QQ图片20150928142156_副本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56" y="3500444"/>
            <a:ext cx="2795809" cy="968068"/>
          </a:xfrm>
          <a:prstGeom prst="rect">
            <a:avLst/>
          </a:prstGeom>
        </p:spPr>
      </p:pic>
      <p:pic>
        <p:nvPicPr>
          <p:cNvPr id="23" name="图片 22" descr="QQ图片20150928142609_副本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2" y="2928940"/>
            <a:ext cx="2327358" cy="15716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0100" y="2857502"/>
            <a:ext cx="30718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可以绑定：支付宝、银联卡、微信支付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0100" y="3182785"/>
            <a:ext cx="30718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可以进行改修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071670" y="2214560"/>
            <a:ext cx="6357982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85984" y="1285866"/>
            <a:ext cx="1785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下面是维修地址管理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34"/>
            <a:ext cx="571504" cy="576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圆角矩形 2"/>
          <p:cNvSpPr/>
          <p:nvPr/>
        </p:nvSpPr>
        <p:spPr>
          <a:xfrm>
            <a:off x="928662" y="285734"/>
            <a:ext cx="714380" cy="571504"/>
          </a:xfrm>
          <a:prstGeom prst="roundRect">
            <a:avLst/>
          </a:prstGeom>
          <a:ln>
            <a:solidFill>
              <a:srgbClr val="E812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EASYJOB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4348" y="2071684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订单记录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4348" y="2428874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绑定付款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4348" y="1357304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我的福利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14348" y="1714494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推荐码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4348" y="1000114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我的资料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71736" y="357172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我的资料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71736" y="1071552"/>
            <a:ext cx="1928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手机号（为唯一会员登记方式）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71736" y="1357304"/>
            <a:ext cx="31432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昵称（中英文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16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个字符以内，昵称为唯一性）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71736" y="1643056"/>
            <a:ext cx="1785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性别：先生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女士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71736" y="1896901"/>
            <a:ext cx="2786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邮箱（选填项，如捆绑后方便找回密码）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71736" y="785800"/>
            <a:ext cx="1928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会员号（系统生成）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71736" y="2182653"/>
            <a:ext cx="2786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常用地址（必填）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71736" y="2468405"/>
            <a:ext cx="2786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历史地址（系统自动记录）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86380" y="785800"/>
            <a:ext cx="5715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不可改</a:t>
            </a:r>
            <a:endParaRPr lang="zh-CN" altLang="en-US" sz="9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86380" y="1357304"/>
            <a:ext cx="5715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不可改</a:t>
            </a:r>
            <a:endParaRPr lang="zh-CN" altLang="en-US" sz="9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86380" y="1055034"/>
            <a:ext cx="5715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重置</a:t>
            </a:r>
            <a:endParaRPr lang="zh-CN" altLang="en-US" sz="9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86380" y="1626538"/>
            <a:ext cx="5715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重置</a:t>
            </a:r>
            <a:endParaRPr lang="zh-CN" altLang="en-US" sz="9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86380" y="1912290"/>
            <a:ext cx="5715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重置</a:t>
            </a:r>
            <a:endParaRPr lang="zh-CN" altLang="en-US" sz="9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86380" y="2198042"/>
            <a:ext cx="5715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重置</a:t>
            </a:r>
            <a:endParaRPr lang="zh-CN" altLang="en-US" sz="9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86380" y="2483794"/>
            <a:ext cx="8572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重置</a:t>
            </a:r>
            <a:r>
              <a:rPr lang="en-US" altLang="zh-CN" sz="9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/</a:t>
            </a:r>
            <a:r>
              <a:rPr lang="zh-CN" altLang="en-US" sz="9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删除</a:t>
            </a:r>
            <a:endParaRPr lang="zh-CN" altLang="en-US" sz="9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00760" y="1039645"/>
            <a:ext cx="19288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手机号可重新捆绑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571736" y="3846621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我的福利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71736" y="4243342"/>
            <a:ext cx="2786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以日期排序方式，记录会员的推荐优惠、会员已获得的其它优惠（奖品）记录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2214546" y="3713170"/>
            <a:ext cx="4857784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214546" y="2857502"/>
            <a:ext cx="4857784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571736" y="3182785"/>
            <a:ext cx="2786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真实姓名（认证）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571736" y="3397099"/>
            <a:ext cx="2786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身份证号（认证）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571736" y="2928940"/>
            <a:ext cx="27860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以下两项可以为选择性认证项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86380" y="3126736"/>
            <a:ext cx="5715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不可改</a:t>
            </a:r>
            <a:endParaRPr lang="zh-CN" altLang="en-US" sz="9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286380" y="3357568"/>
            <a:ext cx="5715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不可改</a:t>
            </a:r>
            <a:endParaRPr lang="zh-CN" altLang="en-US" sz="9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34"/>
            <a:ext cx="571504" cy="576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圆角矩形 2"/>
          <p:cNvSpPr/>
          <p:nvPr/>
        </p:nvSpPr>
        <p:spPr>
          <a:xfrm>
            <a:off x="928662" y="285734"/>
            <a:ext cx="714380" cy="571504"/>
          </a:xfrm>
          <a:prstGeom prst="roundRect">
            <a:avLst/>
          </a:prstGeom>
          <a:ln>
            <a:solidFill>
              <a:srgbClr val="E812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EASYJOB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4348" y="2071684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订单记录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4348" y="2428874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绑定付款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4348" y="1357304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我的福利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14348" y="1714494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推荐码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4348" y="1000114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我的资料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28992" y="357172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推荐码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0" name="图片 9" descr="webwxgetmsgimg 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926" y="1428742"/>
            <a:ext cx="1857388" cy="33020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71802" y="785800"/>
            <a:ext cx="18573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可以将会员推荐码（即为会员号）单独一页，也可以为我的资料首页，这个看技术问题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86578" y="357172"/>
            <a:ext cx="928694" cy="214314"/>
          </a:xfrm>
          <a:prstGeom prst="rect">
            <a:avLst/>
          </a:prstGeom>
          <a:ln w="127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历史记录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72264" y="785800"/>
            <a:ext cx="157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根据会员的消费记录与好评对会员进行评级，会员的评级越高有可能会获得的优惠机会越多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72264" y="1792426"/>
            <a:ext cx="157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以日期方式排列会员两年内消费记录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rot="5400000">
            <a:off x="3393273" y="2393155"/>
            <a:ext cx="4214842" cy="1588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57158" y="285734"/>
            <a:ext cx="714380" cy="714380"/>
            <a:chOff x="7572396" y="3071816"/>
            <a:chExt cx="285752" cy="285752"/>
          </a:xfrm>
        </p:grpSpPr>
        <p:sp>
          <p:nvSpPr>
            <p:cNvPr id="3" name="椭圆 2"/>
            <p:cNvSpPr/>
            <p:nvPr/>
          </p:nvSpPr>
          <p:spPr>
            <a:xfrm>
              <a:off x="7572396" y="3071816"/>
              <a:ext cx="285752" cy="285752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Picture 9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13953" y="3124212"/>
              <a:ext cx="172757" cy="1619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5" name="圆角矩形 4"/>
          <p:cNvSpPr/>
          <p:nvPr/>
        </p:nvSpPr>
        <p:spPr>
          <a:xfrm>
            <a:off x="1214414" y="357172"/>
            <a:ext cx="571504" cy="5715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我的订单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357554" y="1000114"/>
            <a:ext cx="357190" cy="357190"/>
          </a:xfrm>
          <a:prstGeom prst="ellipse">
            <a:avLst/>
          </a:prstGeom>
          <a:ln w="9525">
            <a:solidFill>
              <a:srgbClr val="77777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安装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28794" y="142858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订单类别选择</a:t>
            </a:r>
            <a:r>
              <a:rPr lang="en-US" altLang="zh-CN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1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28794" y="500048"/>
            <a:ext cx="500066" cy="214314"/>
          </a:xfrm>
          <a:prstGeom prst="rect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灯具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3786182" y="1000114"/>
            <a:ext cx="357190" cy="357190"/>
          </a:xfrm>
          <a:prstGeom prst="ellipse">
            <a:avLst/>
          </a:prstGeom>
          <a:ln w="9525">
            <a:solidFill>
              <a:srgbClr val="77777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清洗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4214810" y="1000114"/>
            <a:ext cx="357190" cy="357190"/>
          </a:xfrm>
          <a:prstGeom prst="ellipse">
            <a:avLst/>
          </a:prstGeom>
          <a:ln w="9525">
            <a:solidFill>
              <a:srgbClr val="77777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维修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71736" y="500048"/>
            <a:ext cx="500066" cy="214314"/>
          </a:xfrm>
          <a:prstGeom prst="rect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厨卫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14678" y="500048"/>
            <a:ext cx="500066" cy="214314"/>
          </a:xfrm>
          <a:prstGeom prst="rect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门窗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500562" y="500048"/>
            <a:ext cx="500066" cy="214314"/>
          </a:xfrm>
          <a:prstGeom prst="rect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地板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143504" y="500048"/>
            <a:ext cx="500066" cy="214314"/>
          </a:xfrm>
          <a:prstGeom prst="rect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墙纸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786446" y="500048"/>
            <a:ext cx="500066" cy="214314"/>
          </a:xfrm>
          <a:prstGeom prst="rect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家电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429388" y="500048"/>
            <a:ext cx="500066" cy="214314"/>
          </a:xfrm>
          <a:prstGeom prst="rect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空调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072330" y="500048"/>
            <a:ext cx="500066" cy="214314"/>
          </a:xfrm>
          <a:prstGeom prst="rect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乳胶漆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15272" y="500048"/>
            <a:ext cx="500066" cy="214314"/>
          </a:xfrm>
          <a:prstGeom prst="rect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其它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571604" y="857238"/>
            <a:ext cx="6858048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>
          <a:xfrm>
            <a:off x="4714876" y="1000114"/>
            <a:ext cx="357190" cy="357190"/>
          </a:xfrm>
          <a:prstGeom prst="ellipse">
            <a:avLst/>
          </a:prstGeom>
          <a:ln w="9525">
            <a:solidFill>
              <a:srgbClr val="77777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翻新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214942" y="1000114"/>
            <a:ext cx="357190" cy="357190"/>
          </a:xfrm>
          <a:prstGeom prst="ellipse">
            <a:avLst/>
          </a:prstGeom>
          <a:ln w="9525">
            <a:solidFill>
              <a:srgbClr val="77777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张贴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29058" y="1357304"/>
            <a:ext cx="9286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是否需要代提货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3" name="椭圆 22"/>
          <p:cNvSpPr/>
          <p:nvPr/>
        </p:nvSpPr>
        <p:spPr>
          <a:xfrm flipV="1">
            <a:off x="4929190" y="1429872"/>
            <a:ext cx="71438" cy="7143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000496" y="1643056"/>
            <a:ext cx="928694" cy="214314"/>
          </a:xfrm>
          <a:prstGeom prst="rect">
            <a:avLst/>
          </a:prstGeom>
          <a:ln w="12700">
            <a:solidFill>
              <a:srgbClr val="7777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留言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000496" y="1928808"/>
            <a:ext cx="928694" cy="214314"/>
          </a:xfrm>
          <a:prstGeom prst="rect">
            <a:avLst/>
          </a:prstGeom>
          <a:ln w="12700">
            <a:solidFill>
              <a:srgbClr val="77777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上传图片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715008" y="1000114"/>
            <a:ext cx="357190" cy="357190"/>
          </a:xfrm>
          <a:prstGeom prst="ellipse">
            <a:avLst/>
          </a:prstGeom>
          <a:ln w="9525">
            <a:solidFill>
              <a:srgbClr val="77777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其它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857620" y="500048"/>
            <a:ext cx="500066" cy="214314"/>
          </a:xfrm>
          <a:prstGeom prst="rect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家具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00628" y="1927678"/>
            <a:ext cx="9286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最多可以为</a:t>
            </a:r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张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86776" y="500048"/>
            <a:ext cx="7143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可以多选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928794" y="1000114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</a:t>
            </a:r>
            <a:r>
              <a:rPr lang="en-US" altLang="zh-CN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2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143240" y="2358566"/>
            <a:ext cx="571504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省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2" name="等腰三角形 31"/>
          <p:cNvSpPr/>
          <p:nvPr/>
        </p:nvSpPr>
        <p:spPr>
          <a:xfrm flipV="1">
            <a:off x="3571868" y="2430004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786182" y="2358566"/>
            <a:ext cx="571504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市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" name="等腰三角形 33"/>
          <p:cNvSpPr/>
          <p:nvPr/>
        </p:nvSpPr>
        <p:spPr>
          <a:xfrm flipV="1">
            <a:off x="4214810" y="2430004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4429124" y="2358566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区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县）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6" name="等腰三角形 35"/>
          <p:cNvSpPr/>
          <p:nvPr/>
        </p:nvSpPr>
        <p:spPr>
          <a:xfrm flipV="1">
            <a:off x="5000628" y="2430004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214942" y="2358566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镇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街）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8" name="等腰三角形 37"/>
          <p:cNvSpPr/>
          <p:nvPr/>
        </p:nvSpPr>
        <p:spPr>
          <a:xfrm flipV="1">
            <a:off x="5786446" y="2430004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3143240" y="2644318"/>
            <a:ext cx="2786082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详细地址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928794" y="2357436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订单类别选择</a:t>
            </a:r>
            <a:r>
              <a:rPr lang="en-US" altLang="zh-CN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3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86512" y="2430004"/>
            <a:ext cx="17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如首次下单或未在“我的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EASYJOB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”中完善的需填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714744" y="2930070"/>
            <a:ext cx="9286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设为常用地址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3" name="椭圆 42"/>
          <p:cNvSpPr/>
          <p:nvPr/>
        </p:nvSpPr>
        <p:spPr>
          <a:xfrm flipV="1">
            <a:off x="4714876" y="3002638"/>
            <a:ext cx="71438" cy="7143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>
            <a:off x="1571604" y="2212972"/>
            <a:ext cx="6858048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3143240" y="3501574"/>
            <a:ext cx="571504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省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6" name="等腰三角形 45"/>
          <p:cNvSpPr/>
          <p:nvPr/>
        </p:nvSpPr>
        <p:spPr>
          <a:xfrm flipV="1">
            <a:off x="3571868" y="3573012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786182" y="3501574"/>
            <a:ext cx="571504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市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8" name="等腰三角形 47"/>
          <p:cNvSpPr/>
          <p:nvPr/>
        </p:nvSpPr>
        <p:spPr>
          <a:xfrm flipV="1">
            <a:off x="4214810" y="3573012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4429124" y="3501574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区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县）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0" name="等腰三角形 49"/>
          <p:cNvSpPr/>
          <p:nvPr/>
        </p:nvSpPr>
        <p:spPr>
          <a:xfrm flipV="1">
            <a:off x="5000628" y="3573012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5214942" y="3501574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XX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镇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街）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2" name="等腰三角形 51"/>
          <p:cNvSpPr/>
          <p:nvPr/>
        </p:nvSpPr>
        <p:spPr>
          <a:xfrm flipV="1">
            <a:off x="5786446" y="3573012"/>
            <a:ext cx="71438" cy="71438"/>
          </a:xfrm>
          <a:prstGeom prst="triangle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143240" y="3787326"/>
            <a:ext cx="2786082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详细地址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86512" y="3429006"/>
            <a:ext cx="2214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如非常用地址发给维修的需填写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2857488" y="3215822"/>
            <a:ext cx="5572164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071802" y="3256941"/>
            <a:ext cx="1785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本次维修地址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2857488" y="4213236"/>
            <a:ext cx="5572164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4000496" y="4357700"/>
            <a:ext cx="928694" cy="214314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订单完成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500694" y="4286262"/>
            <a:ext cx="2214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感谢阁下的惠顾！我们将会尽快派出相应的</a:t>
            </a:r>
            <a:r>
              <a:rPr lang="en-US" altLang="zh-CN" sz="10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EASY</a:t>
            </a:r>
            <a:r>
              <a:rPr lang="zh-CN" altLang="en-US" sz="10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哥与阁下联系！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6072198" y="3786196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联系人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6929454" y="3786196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联系电话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2" name="椭圆 61"/>
          <p:cNvSpPr/>
          <p:nvPr/>
        </p:nvSpPr>
        <p:spPr>
          <a:xfrm flipV="1">
            <a:off x="2000232" y="2857502"/>
            <a:ext cx="71438" cy="7143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2143108" y="2786064"/>
            <a:ext cx="9286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选择维修地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5786" y="3143254"/>
            <a:ext cx="17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如已有一个以上地址可以直接选择维修地址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286512" y="928676"/>
            <a:ext cx="25003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要选择需要代提货，必须上传提货单，以及留下提货址，提货部电话，如为德邦物流则要与客户另行沟通修改提货人身份证明文件</a:t>
            </a:r>
            <a:endParaRPr lang="zh-CN" altLang="en-US" sz="9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286512" y="1500180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提货地址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5429256" y="1500180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物流公司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7143768" y="1500180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提货单号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8001024" y="1500180"/>
            <a:ext cx="714380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提货电话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572264" y="1785932"/>
            <a:ext cx="1214446" cy="214314"/>
          </a:xfrm>
          <a:prstGeom prst="rect">
            <a:avLst/>
          </a:prstGeom>
          <a:ln w="127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上传提货单图片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71472" y="1142990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订单登记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57158" y="285734"/>
            <a:ext cx="714380" cy="714380"/>
            <a:chOff x="7572396" y="3071816"/>
            <a:chExt cx="285752" cy="285752"/>
          </a:xfrm>
        </p:grpSpPr>
        <p:sp>
          <p:nvSpPr>
            <p:cNvPr id="3" name="椭圆 2"/>
            <p:cNvSpPr/>
            <p:nvPr/>
          </p:nvSpPr>
          <p:spPr>
            <a:xfrm>
              <a:off x="7572396" y="3071816"/>
              <a:ext cx="285752" cy="285752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Picture 9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13953" y="3124212"/>
              <a:ext cx="172757" cy="1619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5" name="圆角矩形 4"/>
          <p:cNvSpPr/>
          <p:nvPr/>
        </p:nvSpPr>
        <p:spPr>
          <a:xfrm>
            <a:off x="1214414" y="357172"/>
            <a:ext cx="571504" cy="5715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我的订单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1472" y="1142990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订单登记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1472" y="1857370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订单状态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1472" y="2214560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付款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1472" y="2571750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评价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1472" y="1500180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订单回复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14612" y="357172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订单回复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28926" y="1285866"/>
            <a:ext cx="466476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圆角矩形 12"/>
          <p:cNvSpPr/>
          <p:nvPr/>
        </p:nvSpPr>
        <p:spPr>
          <a:xfrm>
            <a:off x="2928926" y="1214428"/>
            <a:ext cx="500066" cy="71438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五角星 13"/>
          <p:cNvSpPr/>
          <p:nvPr/>
        </p:nvSpPr>
        <p:spPr>
          <a:xfrm>
            <a:off x="3286116" y="2000246"/>
            <a:ext cx="71438" cy="71438"/>
          </a:xfrm>
          <a:prstGeom prst="star5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五角星 14"/>
          <p:cNvSpPr/>
          <p:nvPr/>
        </p:nvSpPr>
        <p:spPr>
          <a:xfrm>
            <a:off x="2857488" y="2000246"/>
            <a:ext cx="71438" cy="71438"/>
          </a:xfrm>
          <a:prstGeom prst="star5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五角星 15"/>
          <p:cNvSpPr/>
          <p:nvPr/>
        </p:nvSpPr>
        <p:spPr>
          <a:xfrm>
            <a:off x="3000364" y="2000246"/>
            <a:ext cx="71438" cy="71438"/>
          </a:xfrm>
          <a:prstGeom prst="star5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五角星 16"/>
          <p:cNvSpPr/>
          <p:nvPr/>
        </p:nvSpPr>
        <p:spPr>
          <a:xfrm>
            <a:off x="3143240" y="2000246"/>
            <a:ext cx="71438" cy="71438"/>
          </a:xfrm>
          <a:prstGeom prst="star5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五角星 17"/>
          <p:cNvSpPr/>
          <p:nvPr/>
        </p:nvSpPr>
        <p:spPr>
          <a:xfrm>
            <a:off x="3438516" y="2000246"/>
            <a:ext cx="71438" cy="71438"/>
          </a:xfrm>
          <a:prstGeom prst="star5">
            <a:avLst/>
          </a:prstGeom>
          <a:noFill/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214546" y="714362"/>
            <a:ext cx="192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PC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端收到信息分类，根据地区、工种、空闲，指派</a:t>
            </a:r>
            <a:r>
              <a:rPr lang="en-US" altLang="zh-CN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EASY</a:t>
            </a:r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哥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43108" y="1928808"/>
            <a:ext cx="642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累积评价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43108" y="1571618"/>
            <a:ext cx="642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相片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43108" y="2141992"/>
            <a:ext cx="642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工号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57488" y="2143122"/>
            <a:ext cx="642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020CH001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14546" y="2500312"/>
            <a:ext cx="192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派单成功后系统会显示以上资料，并会转入“最新订单”中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14546" y="4100466"/>
            <a:ext cx="192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预约结果，并同时发短信到客户手机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072198" y="357172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订单状态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571736" y="3714758"/>
            <a:ext cx="928694" cy="214314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预约成功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072198" y="785800"/>
            <a:ext cx="928694" cy="214314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预约成功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00760" y="1142990"/>
            <a:ext cx="1285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EASY</a:t>
            </a:r>
            <a:r>
              <a:rPr lang="zh-CN" altLang="en-US" sz="10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哥到达现场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31" name="肘形连接符 30"/>
          <p:cNvCxnSpPr/>
          <p:nvPr/>
        </p:nvCxnSpPr>
        <p:spPr>
          <a:xfrm rot="5400000">
            <a:off x="6143636" y="1428742"/>
            <a:ext cx="357190" cy="35719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肘形连接符 31"/>
          <p:cNvCxnSpPr/>
          <p:nvPr/>
        </p:nvCxnSpPr>
        <p:spPr>
          <a:xfrm rot="16200000" flipH="1">
            <a:off x="6500826" y="1428742"/>
            <a:ext cx="357190" cy="35719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5643570" y="1928808"/>
            <a:ext cx="714380" cy="214314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取消订单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643702" y="1928808"/>
            <a:ext cx="714380" cy="214314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正在进行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572132" y="2285998"/>
            <a:ext cx="785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报价完成，因某种原因，客户取消订单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rot="5400000">
            <a:off x="6822297" y="2393155"/>
            <a:ext cx="214314" cy="1588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6643702" y="2643188"/>
            <a:ext cx="714380" cy="214314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工作完成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rot="5400000">
            <a:off x="2821769" y="2393155"/>
            <a:ext cx="4214842" cy="1588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43240" y="357172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付款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00892" y="357172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评价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43240" y="785800"/>
            <a:ext cx="928694" cy="214314"/>
          </a:xfrm>
          <a:prstGeom prst="rect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写入金额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14546" y="1214428"/>
            <a:ext cx="571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支付宝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椭圆 5"/>
          <p:cNvSpPr/>
          <p:nvPr/>
        </p:nvSpPr>
        <p:spPr>
          <a:xfrm flipV="1">
            <a:off x="2071670" y="1286996"/>
            <a:ext cx="71438" cy="7143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928926" y="1214428"/>
            <a:ext cx="571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网银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椭圆 7"/>
          <p:cNvSpPr/>
          <p:nvPr/>
        </p:nvSpPr>
        <p:spPr>
          <a:xfrm flipV="1">
            <a:off x="2786050" y="1286996"/>
            <a:ext cx="71438" cy="7143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357686" y="1214428"/>
            <a:ext cx="571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现金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 flipV="1">
            <a:off x="4214810" y="1286996"/>
            <a:ext cx="71438" cy="7143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500430" y="1214428"/>
            <a:ext cx="642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微信支付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" name="椭圆 11"/>
          <p:cNvSpPr/>
          <p:nvPr/>
        </p:nvSpPr>
        <p:spPr>
          <a:xfrm flipV="1">
            <a:off x="3357554" y="1286996"/>
            <a:ext cx="71438" cy="71438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428860" y="1500180"/>
            <a:ext cx="2071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如不选择直接进入预定支付方式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71802" y="2000246"/>
            <a:ext cx="714380" cy="214314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付款成功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5074" y="785800"/>
            <a:ext cx="2214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accent6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感谢阁下对我们的支持！请对本次服务作出评价！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6" name="五角星 15"/>
          <p:cNvSpPr/>
          <p:nvPr/>
        </p:nvSpPr>
        <p:spPr>
          <a:xfrm>
            <a:off x="7500958" y="1357304"/>
            <a:ext cx="142876" cy="142876"/>
          </a:xfrm>
          <a:prstGeom prst="star5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五角星 16"/>
          <p:cNvSpPr/>
          <p:nvPr/>
        </p:nvSpPr>
        <p:spPr>
          <a:xfrm>
            <a:off x="6858016" y="1357304"/>
            <a:ext cx="142876" cy="142876"/>
          </a:xfrm>
          <a:prstGeom prst="star5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五角星 17"/>
          <p:cNvSpPr/>
          <p:nvPr/>
        </p:nvSpPr>
        <p:spPr>
          <a:xfrm>
            <a:off x="7062806" y="1357304"/>
            <a:ext cx="142876" cy="142876"/>
          </a:xfrm>
          <a:prstGeom prst="star5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五角星 18"/>
          <p:cNvSpPr/>
          <p:nvPr/>
        </p:nvSpPr>
        <p:spPr>
          <a:xfrm>
            <a:off x="7286644" y="1357304"/>
            <a:ext cx="142876" cy="142876"/>
          </a:xfrm>
          <a:prstGeom prst="star5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五角星 19"/>
          <p:cNvSpPr/>
          <p:nvPr/>
        </p:nvSpPr>
        <p:spPr>
          <a:xfrm>
            <a:off x="7715272" y="1357304"/>
            <a:ext cx="142876" cy="142876"/>
          </a:xfrm>
          <a:prstGeom prst="star5">
            <a:avLst/>
          </a:prstGeom>
          <a:solidFill>
            <a:schemeClr val="accent6"/>
          </a:solidFill>
          <a:ln w="31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 rot="5400000">
            <a:off x="3250397" y="2393155"/>
            <a:ext cx="4214842" cy="1588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7143768" y="2000246"/>
            <a:ext cx="714380" cy="214314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订单完成</a:t>
            </a:r>
            <a:endParaRPr lang="zh-CN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rot="5400000">
            <a:off x="7394595" y="2393155"/>
            <a:ext cx="214314" cy="1588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29454" y="2714626"/>
            <a:ext cx="1428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订单完成系统直接转入“订单记录”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57158" y="285734"/>
            <a:ext cx="714380" cy="714380"/>
            <a:chOff x="7572396" y="3071816"/>
            <a:chExt cx="285752" cy="285752"/>
          </a:xfrm>
        </p:grpSpPr>
        <p:sp>
          <p:nvSpPr>
            <p:cNvPr id="26" name="椭圆 25"/>
            <p:cNvSpPr/>
            <p:nvPr/>
          </p:nvSpPr>
          <p:spPr>
            <a:xfrm>
              <a:off x="7572396" y="3071816"/>
              <a:ext cx="285752" cy="285752"/>
            </a:xfrm>
            <a:prstGeom prst="ellipse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Picture 9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13953" y="3124212"/>
              <a:ext cx="172757" cy="1619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8" name="圆角矩形 27"/>
          <p:cNvSpPr/>
          <p:nvPr/>
        </p:nvSpPr>
        <p:spPr>
          <a:xfrm>
            <a:off x="1214414" y="357172"/>
            <a:ext cx="571504" cy="57150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我的订单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1472" y="1142990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订单登记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71472" y="1857370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订单状态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71472" y="2214560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付款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71472" y="2571750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评价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71472" y="1500180"/>
            <a:ext cx="928694" cy="214314"/>
          </a:xfrm>
          <a:prstGeom prst="rect">
            <a:avLst/>
          </a:prstGeom>
          <a:ln w="127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订单回复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方型头像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472" y="357172"/>
            <a:ext cx="619124" cy="619124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1214414" y="357172"/>
            <a:ext cx="571504" cy="57150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关于我们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2910" y="1071552"/>
            <a:ext cx="928694" cy="214314"/>
          </a:xfrm>
          <a:prstGeom prst="rect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关于易事装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2910" y="2500312"/>
            <a:ext cx="928694" cy="214314"/>
          </a:xfrm>
          <a:prstGeom prst="rect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投诉建议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2910" y="1785932"/>
            <a:ext cx="928694" cy="214314"/>
          </a:xfrm>
          <a:prstGeom prst="rect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用户协议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05.23EASYJOB\LOGO\qrcode_for_gh_9e9780590fe1_43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7818" y="1785932"/>
            <a:ext cx="2060568" cy="20605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1039</Words>
  <PresentationFormat>全屏显示(16:9)</PresentationFormat>
  <Paragraphs>211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pc</cp:lastModifiedBy>
  <cp:revision>84</cp:revision>
  <dcterms:created xsi:type="dcterms:W3CDTF">2015-09-20T10:03:02Z</dcterms:created>
  <dcterms:modified xsi:type="dcterms:W3CDTF">2015-10-06T08:55:53Z</dcterms:modified>
</cp:coreProperties>
</file>